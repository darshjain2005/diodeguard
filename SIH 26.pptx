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8000"/>
    <a:srgbClr val="FF6405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102" y="-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3A87-1E85-AF61-6A85-5D6D0502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F722496-ECCF-41FF-A746-187FAC903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220EA7C-B766-1C4C-F125-A746CB0BFB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D77E861-B24E-9889-5E57-026B8638C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56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cMG8tbNVmk5k3RbXOXK4gXQnyUqmzsz1/view?usp=drive_lin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zh64J2RH0pCWJeEyij8Wri9azUSg3pj3/view?usp=drive_link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file/d/17MKTgQImsow95MZ8jckZv0YTBMegtJiY/view?usp=drive_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Y7YEDOI8LqEEWYLGWuY7YqTdlxbFgZd7/view?usp=sharing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www.unb.ca/cic/datasets/ids-2017.html" TargetMode="External"/><Relationship Id="rId9" Type="http://schemas.openxmlformats.org/officeDocument/2006/relationships/hyperlink" Target="https://drive.google.com/file/d/1s7-z2mEuycbDWYwFM4Rn2ORvNMPAVrbl/view?usp=drive_lin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Darshjain2005/DiodeGuard.git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61246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119" y="-2502"/>
            <a:ext cx="1531697" cy="7232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E0357E-31AF-1D03-4AE8-5CB63DC2FF52}"/>
              </a:ext>
            </a:extLst>
          </p:cNvPr>
          <p:cNvSpPr/>
          <p:nvPr/>
        </p:nvSpPr>
        <p:spPr>
          <a:xfrm>
            <a:off x="162065" y="752355"/>
            <a:ext cx="11867870" cy="5949388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62679" y="1882826"/>
            <a:ext cx="100327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Problem Statement ID - SIH26145</a:t>
            </a:r>
          </a:p>
          <a:p>
            <a:pPr algn="just">
              <a:lnSpc>
                <a:spcPct val="100000"/>
              </a:lnSpc>
            </a:pP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AI-Based Detection of Cyber Threats in Unidirectional IP Traffic</a:t>
            </a:r>
          </a:p>
          <a:p>
            <a:pPr algn="just">
              <a:lnSpc>
                <a:spcPct val="100000"/>
              </a:lnSpc>
            </a:pPr>
            <a:endParaRPr lang="en-IN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Theme – Blockchain &amp; Cyber Security</a:t>
            </a:r>
          </a:p>
          <a:p>
            <a:pPr algn="just">
              <a:lnSpc>
                <a:spcPct val="100000"/>
              </a:lnSpc>
            </a:pPr>
            <a:endParaRPr lang="en-IN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algn="just">
              <a:lnSpc>
                <a:spcPct val="100000"/>
              </a:lnSpc>
            </a:pPr>
            <a:endParaRPr lang="en-IN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Team ID – COMP26</a:t>
            </a:r>
          </a:p>
          <a:p>
            <a:pPr algn="just">
              <a:lnSpc>
                <a:spcPct val="100000"/>
              </a:lnSpc>
            </a:pPr>
            <a:endParaRPr lang="en-IN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The S.H.I.E.L.D</a:t>
            </a:r>
          </a:p>
          <a:p>
            <a:pPr algn="just">
              <a:lnSpc>
                <a:spcPct val="100000"/>
              </a:lnSpc>
            </a:pP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5F693BDF-C564-8FE2-E2A4-BACF26AB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5307" y="1028907"/>
            <a:ext cx="5801385" cy="365125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</a:t>
            </a:r>
            <a:r>
              <a:rPr lang="en-US" sz="3200" b="1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GUARD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57536-F1D0-B4EA-A52A-ABDBC7155811}"/>
              </a:ext>
            </a:extLst>
          </p:cNvPr>
          <p:cNvSpPr txBox="1"/>
          <p:nvPr/>
        </p:nvSpPr>
        <p:spPr>
          <a:xfrm>
            <a:off x="9189720" y="311046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4"/>
              </a:rPr>
              <a:t>🔗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78933"/>
            <a:ext cx="1637923" cy="80733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A8682-3CDD-055D-4EC4-E0848D1ED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86" y="-2502"/>
            <a:ext cx="1296330" cy="6121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7E3CB2-C557-E2C5-4B32-E6A898DDB19F}"/>
              </a:ext>
            </a:extLst>
          </p:cNvPr>
          <p:cNvSpPr txBox="1"/>
          <p:nvPr/>
        </p:nvSpPr>
        <p:spPr>
          <a:xfrm>
            <a:off x="1715107" y="159254"/>
            <a:ext cx="90996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+mn-lt"/>
              </a:rPr>
              <a:t>Develop a</a:t>
            </a:r>
            <a:r>
              <a:rPr lang="en-IN" sz="1600" dirty="0">
                <a:latin typeface="+mn-lt"/>
              </a:rPr>
              <a:t> passive threat detection pipeline by operating strictly behind one-directional hardware data diodes and analysing encrypted flow metadata through a fused Tri-Engine ML core, Diode Guard identifies both known volumetric attacks and novel zero-day botnet structures with sub-5ms latency and </a:t>
            </a:r>
          </a:p>
          <a:p>
            <a:pPr algn="ctr"/>
            <a:r>
              <a:rPr lang="en-IN" sz="1600" dirty="0">
                <a:latin typeface="+mn-lt"/>
              </a:rPr>
              <a:t>zero operational attack surface.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8FE30-8F35-DA24-7630-0D75A450EE70}"/>
              </a:ext>
            </a:extLst>
          </p:cNvPr>
          <p:cNvSpPr/>
          <p:nvPr/>
        </p:nvSpPr>
        <p:spPr>
          <a:xfrm>
            <a:off x="143776" y="1634558"/>
            <a:ext cx="7171424" cy="4585262"/>
          </a:xfrm>
          <a:prstGeom prst="rect">
            <a:avLst/>
          </a:prstGeom>
          <a:gradFill flip="none" rotWithShape="1">
            <a:gsLst>
              <a:gs pos="0">
                <a:srgbClr val="FF6405">
                  <a:shade val="30000"/>
                  <a:satMod val="115000"/>
                </a:srgbClr>
              </a:gs>
              <a:gs pos="50000">
                <a:srgbClr val="FF6405">
                  <a:shade val="67500"/>
                  <a:satMod val="115000"/>
                </a:srgbClr>
              </a:gs>
              <a:gs pos="100000">
                <a:srgbClr val="FF6405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 Ingress &amp; Air-Gapped Monitoring: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Ingests network flow telemetry in a strictly unidirectional, read-only monitoring enclave using hardware data diodes. </a:t>
            </a:r>
          </a:p>
          <a:p>
            <a:pPr lvl="0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Ensuring zero risk of lateral movement or network tampering.</a:t>
            </a:r>
          </a:p>
          <a:p>
            <a:pPr lvl="0"/>
            <a:endParaRPr lang="en-IN" sz="1400" b="1" dirty="0"/>
          </a:p>
          <a:p>
            <a:pPr lvl="0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Payload-Agnostic Feature Extraction: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Evaluates traffic patterns using flow-level metadata without decrypting payloads effective on TLS 1.3/QUIC traffic.</a:t>
            </a:r>
          </a:p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Tri-Engine Hybrid ML Detection Core:</a:t>
            </a:r>
          </a:p>
          <a:p>
            <a:pPr lvl="0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Heuristic Engine 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Real-time deterministic matching for high-velocity signature threats (DDoS, port scanning).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Isolation Forest 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Dynamically isolates statistical anomalies and unexpected multi-dimensional traffic spikes from benign baselines.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Neural Network 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Constructs dynamic local interaction subgraphs via </a:t>
            </a:r>
            <a:r>
              <a:rPr lang="en-I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PyTorch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Geometric to expose hidden topological threats.</a:t>
            </a:r>
          </a:p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Live SOC Visualization: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Dispatches scored alerts and telemetry to a real-time React dashboard over Web Sockets with sub-50ms latency.</a:t>
            </a:r>
          </a:p>
          <a:p>
            <a:pPr algn="ctr"/>
            <a:endParaRPr lang="en-IN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4DF068-3388-FD7F-DFA3-CC04FE5D622A}"/>
              </a:ext>
            </a:extLst>
          </p:cNvPr>
          <p:cNvSpPr/>
          <p:nvPr/>
        </p:nvSpPr>
        <p:spPr>
          <a:xfrm>
            <a:off x="1807928" y="92005"/>
            <a:ext cx="8906161" cy="1168407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915C3-996B-0B28-57A4-7A56C79561A5}"/>
              </a:ext>
            </a:extLst>
          </p:cNvPr>
          <p:cNvSpPr/>
          <p:nvPr/>
        </p:nvSpPr>
        <p:spPr>
          <a:xfrm>
            <a:off x="7452360" y="1634558"/>
            <a:ext cx="4595864" cy="4585262"/>
          </a:xfrm>
          <a:prstGeom prst="rect">
            <a:avLst/>
          </a:prstGeom>
          <a:gradFill flip="none" rotWithShape="1">
            <a:gsLst>
              <a:gs pos="0">
                <a:srgbClr val="008000">
                  <a:shade val="30000"/>
                  <a:satMod val="115000"/>
                </a:srgbClr>
              </a:gs>
              <a:gs pos="50000">
                <a:srgbClr val="008000">
                  <a:shade val="67500"/>
                  <a:satMod val="115000"/>
                </a:srgbClr>
              </a:gs>
              <a:gs pos="100000">
                <a:srgbClr val="00800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just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Fused Tri-Engine Detection: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Combines the speed of deterministic rules, the novelty detection of unsupervised learning, and the structural intelligence of Graph Neural Networks (GNNs).</a:t>
            </a:r>
          </a:p>
          <a:p>
            <a:pPr lvl="0" algn="just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just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Topological Modelling for Flows: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Unlike conventional IDS that evaluate flows in isolation, Diode Guard models temporal topological relationships to unmask coordinated distributed botnets.</a:t>
            </a:r>
          </a:p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just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Data Diode Optimization: 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Built for critical infrastructure where active probing and traditional bidirectional firewalls introduce unacceptable vulnerability vectors.</a:t>
            </a:r>
          </a:p>
          <a:p>
            <a:pPr lvl="0"/>
            <a:endParaRPr lang="en-I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07B123-4F7E-5F9D-8893-D2869AD0B684}"/>
              </a:ext>
            </a:extLst>
          </p:cNvPr>
          <p:cNvSpPr/>
          <p:nvPr/>
        </p:nvSpPr>
        <p:spPr>
          <a:xfrm>
            <a:off x="2231136" y="1371414"/>
            <a:ext cx="2871216" cy="253814"/>
          </a:xfrm>
          <a:prstGeom prst="roundRect">
            <a:avLst/>
          </a:prstGeom>
          <a:gradFill flip="none" rotWithShape="1">
            <a:gsLst>
              <a:gs pos="0">
                <a:srgbClr val="008000">
                  <a:shade val="30000"/>
                  <a:satMod val="115000"/>
                </a:srgbClr>
              </a:gs>
              <a:gs pos="50000">
                <a:srgbClr val="008000">
                  <a:shade val="67500"/>
                  <a:satMod val="115000"/>
                </a:srgbClr>
              </a:gs>
              <a:gs pos="100000">
                <a:srgbClr val="008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415B9C-7691-4EE2-5A6C-2BB72FC9368C}"/>
              </a:ext>
            </a:extLst>
          </p:cNvPr>
          <p:cNvSpPr/>
          <p:nvPr/>
        </p:nvSpPr>
        <p:spPr>
          <a:xfrm>
            <a:off x="8314684" y="1373381"/>
            <a:ext cx="2871216" cy="253814"/>
          </a:xfrm>
          <a:prstGeom prst="roundRect">
            <a:avLst/>
          </a:prstGeom>
          <a:gradFill flip="none" rotWithShape="1">
            <a:gsLst>
              <a:gs pos="0">
                <a:srgbClr val="FF6405">
                  <a:shade val="30000"/>
                  <a:satMod val="115000"/>
                </a:srgbClr>
              </a:gs>
              <a:gs pos="50000">
                <a:srgbClr val="FF6405">
                  <a:shade val="67500"/>
                  <a:satMod val="115000"/>
                </a:srgbClr>
              </a:gs>
              <a:gs pos="100000">
                <a:srgbClr val="FF6405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Innovation / Uniqueness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E80C3-1191-1550-9F92-F1D8A3CFB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86" y="-2502"/>
            <a:ext cx="1296330" cy="61210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8E26B8-6E78-23AB-2334-8999F37A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77E36B67-6C36-9C81-2FD0-A8F37656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38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5235B88-42B2-2206-372D-D45F9B6676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78933"/>
            <a:ext cx="1637923" cy="807334"/>
          </a:xfrm>
          <a:prstGeom prst="ellipse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86826A-85FE-253D-4B4B-5686B992AA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89" b="20574"/>
          <a:stretch>
            <a:fillRect/>
          </a:stretch>
        </p:blipFill>
        <p:spPr>
          <a:xfrm>
            <a:off x="609600" y="919163"/>
            <a:ext cx="10972800" cy="374562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5B2B59E-C8CC-F29D-804E-F4C806F9F6CB}"/>
              </a:ext>
            </a:extLst>
          </p:cNvPr>
          <p:cNvSpPr/>
          <p:nvPr/>
        </p:nvSpPr>
        <p:spPr>
          <a:xfrm>
            <a:off x="2932176" y="92005"/>
            <a:ext cx="6327648" cy="68523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Technical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Approach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-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Technical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Stack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691C96-6EA8-8E37-8E4C-00E0D5A200F7}"/>
              </a:ext>
            </a:extLst>
          </p:cNvPr>
          <p:cNvSpPr/>
          <p:nvPr/>
        </p:nvSpPr>
        <p:spPr>
          <a:xfrm>
            <a:off x="77184" y="4806709"/>
            <a:ext cx="12037632" cy="147596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0CF3523-5212-AF89-37DE-C43FB522705D}"/>
              </a:ext>
            </a:extLst>
          </p:cNvPr>
          <p:cNvSpPr/>
          <p:nvPr/>
        </p:nvSpPr>
        <p:spPr>
          <a:xfrm>
            <a:off x="210312" y="4936613"/>
            <a:ext cx="2642616" cy="1216152"/>
          </a:xfrm>
          <a:prstGeom prst="roundRect">
            <a:avLst>
              <a:gd name="adj" fmla="val 10652"/>
            </a:avLst>
          </a:prstGeom>
          <a:solidFill>
            <a:schemeClr val="accent4">
              <a:tint val="100000"/>
              <a:shade val="100000"/>
              <a:satMod val="13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IN" sz="1600" b="1" u="sng" dirty="0">
                <a:solidFill>
                  <a:schemeClr val="tx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User Interface</a:t>
            </a:r>
          </a:p>
          <a:p>
            <a:pPr algn="ctr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React.js + Vite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Tailwind CSS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Lucid Icons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2DE081-A203-1044-3C5B-6B57F73AA97D}"/>
              </a:ext>
            </a:extLst>
          </p:cNvPr>
          <p:cNvSpPr/>
          <p:nvPr/>
        </p:nvSpPr>
        <p:spPr>
          <a:xfrm>
            <a:off x="3018493" y="4936613"/>
            <a:ext cx="2642616" cy="1216152"/>
          </a:xfrm>
          <a:prstGeom prst="roundRect">
            <a:avLst>
              <a:gd name="adj" fmla="val 10652"/>
            </a:avLst>
          </a:prstGeom>
          <a:solidFill>
            <a:schemeClr val="accent4">
              <a:tint val="100000"/>
              <a:shade val="100000"/>
              <a:satMod val="13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IN" sz="1600" b="1" u="sng" dirty="0">
                <a:solidFill>
                  <a:schemeClr val="tx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ML Frameworks</a:t>
            </a:r>
          </a:p>
          <a:p>
            <a:pPr algn="ctr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NumPy &amp; Pandas</a:t>
            </a:r>
          </a:p>
          <a:p>
            <a:pPr algn="ctr"/>
            <a:r>
              <a:rPr lang="en-I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PyTorch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I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PyG</a:t>
            </a:r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Scikit-Learn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B928782-8F5C-5C8B-FD50-B0FE1F535204}"/>
              </a:ext>
            </a:extLst>
          </p:cNvPr>
          <p:cNvSpPr/>
          <p:nvPr/>
        </p:nvSpPr>
        <p:spPr>
          <a:xfrm>
            <a:off x="6530892" y="4936613"/>
            <a:ext cx="2642616" cy="1216152"/>
          </a:xfrm>
          <a:prstGeom prst="roundRect">
            <a:avLst>
              <a:gd name="adj" fmla="val 10652"/>
            </a:avLst>
          </a:prstGeom>
          <a:solidFill>
            <a:schemeClr val="accent4">
              <a:tint val="100000"/>
              <a:shade val="100000"/>
              <a:satMod val="13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IN" sz="1600" b="1" u="sng" dirty="0">
                <a:solidFill>
                  <a:schemeClr val="tx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Backend</a:t>
            </a:r>
          </a:p>
          <a:p>
            <a:pPr algn="ctr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Node.js &amp; Socket.IO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 Inference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1F87B61-5563-256A-DBAF-CFFC35C569C9}"/>
              </a:ext>
            </a:extLst>
          </p:cNvPr>
          <p:cNvSpPr/>
          <p:nvPr/>
        </p:nvSpPr>
        <p:spPr>
          <a:xfrm>
            <a:off x="9339072" y="4936613"/>
            <a:ext cx="2642616" cy="1216152"/>
          </a:xfrm>
          <a:prstGeom prst="roundRect">
            <a:avLst>
              <a:gd name="adj" fmla="val 10652"/>
            </a:avLst>
          </a:prstGeom>
          <a:solidFill>
            <a:schemeClr val="accent4">
              <a:tint val="100000"/>
              <a:shade val="100000"/>
              <a:satMod val="13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IN" sz="1600" b="1" u="sng" dirty="0">
                <a:solidFill>
                  <a:schemeClr val="tx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Ingress Env.</a:t>
            </a:r>
          </a:p>
          <a:p>
            <a:pPr algn="ctr"/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Data Diode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NetFlow/IPFIX</a:t>
            </a:r>
          </a:p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 Probes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2530291-995B-3999-DF80-C61A3C0D6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233" y="5241922"/>
            <a:ext cx="605534" cy="605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5ED7B-B5BD-6B4B-E789-BC513AD54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86" y="-2502"/>
            <a:ext cx="1296330" cy="612102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5974C22-A8CC-7C0B-BF1C-B1967D7B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53829F93-61F5-CABB-A4CC-A5D60BA4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38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E8F32391-F4B7-D70B-1985-99482948D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78933"/>
            <a:ext cx="1637923" cy="80733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BCDEF0-A4C3-B9DB-D00C-B8358C67352D}"/>
              </a:ext>
            </a:extLst>
          </p:cNvPr>
          <p:cNvSpPr/>
          <p:nvPr/>
        </p:nvSpPr>
        <p:spPr>
          <a:xfrm>
            <a:off x="4279500" y="139982"/>
            <a:ext cx="3974592" cy="68523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Feasibility – Challenges &amp;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Risks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D39F3F-43F1-0BA3-30F8-7AC1378D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9" t="11669" r="3299" b="10329"/>
          <a:stretch>
            <a:fillRect/>
          </a:stretch>
        </p:blipFill>
        <p:spPr>
          <a:xfrm>
            <a:off x="77184" y="1238853"/>
            <a:ext cx="6849962" cy="4654296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ADD89E2-8723-C9BB-342E-4DA4EB7FB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30892"/>
              </p:ext>
            </p:extLst>
          </p:nvPr>
        </p:nvGraphicFramePr>
        <p:xfrm>
          <a:off x="6986016" y="1238854"/>
          <a:ext cx="4818888" cy="465429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2409444">
                  <a:extLst>
                    <a:ext uri="{9D8B030D-6E8A-4147-A177-3AD203B41FA5}">
                      <a16:colId xmlns:a16="http://schemas.microsoft.com/office/drawing/2014/main" val="132646533"/>
                    </a:ext>
                  </a:extLst>
                </a:gridCol>
                <a:gridCol w="2409444">
                  <a:extLst>
                    <a:ext uri="{9D8B030D-6E8A-4147-A177-3AD203B41FA5}">
                      <a16:colId xmlns:a16="http://schemas.microsoft.com/office/drawing/2014/main" val="3526926543"/>
                    </a:ext>
                  </a:extLst>
                </a:gridCol>
              </a:tblGrid>
              <a:tr h="44019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Challenges &amp; Risk Area</a:t>
                      </a:r>
                      <a:endParaRPr lang="en-IN" sz="1200" b="1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Description &amp; Threat Impact</a:t>
                      </a:r>
                      <a:endParaRPr lang="en-IN" sz="1200" b="1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92481938"/>
                  </a:ext>
                </a:extLst>
              </a:tr>
              <a:tr h="98537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0">
                          <a:effectLst/>
                        </a:rPr>
                        <a:t>1. Zero Payload Visibility</a:t>
                      </a:r>
                      <a:endParaRPr lang="en-IN" sz="1200" b="0" i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IN" sz="1200" b="0" dirty="0">
                          <a:effectLst/>
                        </a:rPr>
                        <a:t>Pervasive end-to-end encryption  blinds traditional DPI engines from inspecting packet content.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66821569"/>
                  </a:ext>
                </a:extLst>
              </a:tr>
              <a:tr h="125796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0" dirty="0">
                          <a:effectLst/>
                        </a:rPr>
                        <a:t>2. Strictly Read-Only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IN" sz="1200" b="0" dirty="0">
                          <a:effectLst/>
                        </a:rPr>
                        <a:t>Hardware data diodes physically forbid two-way communication, preventing TCP resets, active probing, or challenge-response validation.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15029556"/>
                  </a:ext>
                </a:extLst>
              </a:tr>
              <a:tr h="98537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0" dirty="0">
                          <a:effectLst/>
                        </a:rPr>
                        <a:t>3. Real-Time Inference Bottlenecks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IN" sz="1200" b="0" dirty="0">
                          <a:effectLst/>
                        </a:rPr>
                        <a:t>Deep Graph Neural Networks (GNNs) can introduce computational latency on high-throughput gigabit backbone lines.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57066969"/>
                  </a:ext>
                </a:extLst>
              </a:tr>
              <a:tr h="98537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200" b="0">
                          <a:effectLst/>
                        </a:rPr>
                        <a:t>4. False Positives &amp; Concept Drift</a:t>
                      </a:r>
                      <a:endParaRPr lang="en-IN" sz="1200" b="0" i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IN" sz="1200" b="0" dirty="0">
                          <a:effectLst/>
                        </a:rPr>
                        <a:t>Dynamic enterprise traffic shifts can trigger false alarms in unsupervised statistical models.</a:t>
                      </a:r>
                      <a:endParaRPr lang="en-IN" sz="1200" b="0" i="0" dirty="0">
                        <a:solidFill>
                          <a:srgbClr val="787C99"/>
                        </a:solidFill>
                        <a:effectLst/>
                        <a:latin typeface="Segoe WP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04818019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B26524B0-2701-2383-D820-F2537547E262}"/>
              </a:ext>
            </a:extLst>
          </p:cNvPr>
          <p:cNvSpPr/>
          <p:nvPr/>
        </p:nvSpPr>
        <p:spPr>
          <a:xfrm>
            <a:off x="0" y="7319612"/>
            <a:ext cx="12037632" cy="147596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31376BF-DB91-0D4C-D84E-39088BA1E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232" y="7452058"/>
            <a:ext cx="605534" cy="605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61911-F514-091F-873F-42F8A9121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86" y="-2502"/>
            <a:ext cx="1296330" cy="61210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74013-F13B-757D-9BCB-239CC920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B36570E1-8D3D-E933-682F-876D5726C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38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661D0B4A-B37F-C42C-6DCA-A02688C21E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78933"/>
            <a:ext cx="1637923" cy="807334"/>
          </a:xfrm>
          <a:prstGeom prst="ellipse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E23E5-056F-221D-B865-2CDE426A76CC}"/>
              </a:ext>
            </a:extLst>
          </p:cNvPr>
          <p:cNvSpPr/>
          <p:nvPr/>
        </p:nvSpPr>
        <p:spPr>
          <a:xfrm>
            <a:off x="4279500" y="139982"/>
            <a:ext cx="3974592" cy="68523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Impacts &amp; Benefits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E5EF24-A95E-10D1-1C5B-438D963907F7}"/>
              </a:ext>
            </a:extLst>
          </p:cNvPr>
          <p:cNvSpPr/>
          <p:nvPr/>
        </p:nvSpPr>
        <p:spPr>
          <a:xfrm>
            <a:off x="77183" y="955322"/>
            <a:ext cx="12037632" cy="2720566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D2A446-1212-1FD6-7892-2B5EB016CCA6}"/>
              </a:ext>
            </a:extLst>
          </p:cNvPr>
          <p:cNvSpPr/>
          <p:nvPr/>
        </p:nvSpPr>
        <p:spPr>
          <a:xfrm>
            <a:off x="77183" y="3703252"/>
            <a:ext cx="12037632" cy="2582452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4D102-AC6C-E304-039A-7B799909D200}"/>
              </a:ext>
            </a:extLst>
          </p:cNvPr>
          <p:cNvSpPr txBox="1"/>
          <p:nvPr/>
        </p:nvSpPr>
        <p:spPr>
          <a:xfrm>
            <a:off x="203199" y="1104247"/>
            <a:ext cx="117094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 Operational Disruption: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Ensures 24/7 continuous threat monitoring without risk of introducing latency, packet loss, or configuration instability into mission-critical ICS/SCADA systems.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Immunity to Lateral Pivoting: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Even if external monitoring nodes are compromised, physically unidirectional data diodes prevent nation-state attackers from reaching production turbines, generators, or control systems</a:t>
            </a:r>
          </a:p>
          <a:p>
            <a:pPr algn="just"/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Alert Fatigue: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Multi-engine fusion Rule + Isolation Forest + Graph SAGE prioritizes high-confidence structural threats over noisy single-packet false positives.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525C23-A9A2-5D30-C2DA-36A7EBF1803F}"/>
              </a:ext>
            </a:extLst>
          </p:cNvPr>
          <p:cNvSpPr txBox="1"/>
          <p:nvPr/>
        </p:nvSpPr>
        <p:spPr>
          <a:xfrm>
            <a:off x="203198" y="3749869"/>
            <a:ext cx="117094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Social &amp; Public Safety Benefits:</a:t>
            </a:r>
            <a:endParaRPr lang="en-IN" dirty="0"/>
          </a:p>
          <a:p>
            <a:pPr lvl="1"/>
            <a:r>
              <a:rPr lang="en-IN" b="1" dirty="0"/>
              <a:t>Civilian Infrastructure Protection:</a:t>
            </a:r>
            <a:r>
              <a:rPr lang="en-IN" dirty="0"/>
              <a:t> Prevents catastrophic cyber-physical blackouts, communication outages, and municipal water contamination caused by cyber attacks.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Economic &amp; Financial Benefits:</a:t>
            </a:r>
            <a:endParaRPr lang="en-IN" dirty="0"/>
          </a:p>
          <a:p>
            <a:pPr lvl="1"/>
            <a:r>
              <a:rPr lang="en-IN" b="1" dirty="0"/>
              <a:t>Loss Prevention:</a:t>
            </a:r>
            <a:r>
              <a:rPr lang="en-IN" dirty="0"/>
              <a:t> Mitigates multi-million-dollar operational downtimes, regulatory penalties, and ransomware ransoms for national utilities.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Strategic &amp; National Security Benefits:</a:t>
            </a:r>
            <a:endParaRPr lang="en-IN" dirty="0"/>
          </a:p>
          <a:p>
            <a:pPr lvl="1"/>
            <a:r>
              <a:rPr lang="en-IN" b="1" dirty="0"/>
              <a:t>Indigenous Cyber </a:t>
            </a:r>
            <a:r>
              <a:rPr lang="en-IN" b="1" dirty="0" err="1"/>
              <a:t>Defense</a:t>
            </a:r>
            <a:r>
              <a:rPr lang="en-IN" b="1" dirty="0"/>
              <a:t>:</a:t>
            </a:r>
            <a:r>
              <a:rPr lang="en-IN" dirty="0"/>
              <a:t> Replaces reliance on foreign black-box proprietary security appliances with an open, auditable, high-performance AI detection pipeline.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624641-1070-5BE2-6EF6-F7F7DE175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232" y="7452058"/>
            <a:ext cx="605534" cy="605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313802-CC5D-158B-6BB7-0FEB57A48EDE}"/>
              </a:ext>
            </a:extLst>
          </p:cNvPr>
          <p:cNvSpPr/>
          <p:nvPr/>
        </p:nvSpPr>
        <p:spPr>
          <a:xfrm>
            <a:off x="77183" y="1028700"/>
            <a:ext cx="8176909" cy="5257004"/>
          </a:xfrm>
          <a:prstGeom prst="rect">
            <a:avLst/>
          </a:prstGeom>
          <a:gradFill flip="none" rotWithShape="1">
            <a:gsLst>
              <a:gs pos="0">
                <a:srgbClr val="008000">
                  <a:shade val="30000"/>
                  <a:satMod val="115000"/>
                </a:srgbClr>
              </a:gs>
              <a:gs pos="50000">
                <a:srgbClr val="008000">
                  <a:shade val="67500"/>
                  <a:satMod val="115000"/>
                </a:srgbClr>
              </a:gs>
              <a:gs pos="100000">
                <a:srgbClr val="008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36DB5-8DF4-717F-66FF-9C3442AC6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86" y="-2502"/>
            <a:ext cx="1296330" cy="61210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ED2DB2-7470-CC4D-6064-98CEA246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9B6DAC-6AC7-102B-7327-3CE83DD0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38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386B40BF-5B8C-7987-8056-B19775CED6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78933"/>
            <a:ext cx="1637923" cy="807334"/>
          </a:xfrm>
          <a:prstGeom prst="ellipse">
            <a:avLst/>
          </a:prstGeom>
          <a:gradFill flip="none" rotWithShape="1">
            <a:gsLst>
              <a:gs pos="0">
                <a:srgbClr val="00CC00">
                  <a:shade val="30000"/>
                  <a:satMod val="115000"/>
                </a:srgbClr>
              </a:gs>
              <a:gs pos="50000">
                <a:srgbClr val="00CC00">
                  <a:shade val="67500"/>
                  <a:satMod val="115000"/>
                </a:srgbClr>
              </a:gs>
              <a:gs pos="100000">
                <a:srgbClr val="00CC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39C4D6-D174-5EA2-ABAC-2CE15DD4FB55}"/>
              </a:ext>
            </a:extLst>
          </p:cNvPr>
          <p:cNvSpPr/>
          <p:nvPr/>
        </p:nvSpPr>
        <p:spPr>
          <a:xfrm>
            <a:off x="4279500" y="139982"/>
            <a:ext cx="3974592" cy="68523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Research &amp; References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02D172-74CF-EF0A-24DA-3D7C2C386307}"/>
              </a:ext>
            </a:extLst>
          </p:cNvPr>
          <p:cNvSpPr txBox="1"/>
          <p:nvPr/>
        </p:nvSpPr>
        <p:spPr>
          <a:xfrm>
            <a:off x="198876" y="1204469"/>
            <a:ext cx="77750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Neural Networks - </a:t>
            </a:r>
            <a:r>
              <a:rPr lang="en-I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GraphSAGE</a:t>
            </a: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Architecture:</a:t>
            </a:r>
            <a:endParaRPr lang="en-I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Hamilton, W. L., Ying, R., &amp; Leskovec, J. (2017).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"Inductive Representation Learning on Large Graphs."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Advances in Neural Information Processing Systems (</a:t>
            </a:r>
            <a:r>
              <a:rPr lang="en-IN" sz="1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NeurIPS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Focus: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Provides the mathematical foundation for dynamically embedding network flow topology without retraining on global graphs.</a:t>
            </a:r>
          </a:p>
          <a:p>
            <a:pPr lvl="0"/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Unsupervised Anomaly Isolation:</a:t>
            </a:r>
            <a:endParaRPr lang="en-I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Liu, F. T., Ting, K. M., &amp; Zhou, Z. H. (2008).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"Isolation Forest."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IEEE International Conference on Data Mining (ICDM).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Focus: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Basis for fast, multi-dimensional statistical outlier isolation in high-throughput traffic.</a:t>
            </a:r>
          </a:p>
          <a:p>
            <a:pPr lvl="0"/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Encrypted Malware &amp; </a:t>
            </a:r>
            <a:r>
              <a:rPr lang="en-I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Behavioral</a:t>
            </a: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Flow Analysis:</a:t>
            </a:r>
            <a:endParaRPr lang="en-I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Anderson, B., &amp; McGrew, D. (Cisco Research, 2016).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"Identifying Encrypted Malware Traffic with Contextual Flow Data."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ACM Workshop on Artificial Intelligence and Security (AI-Sec).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Focus: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Validates passive traffic fingerprinting using packet lengths and inter-arrival timing without TLS decryption.</a:t>
            </a:r>
          </a:p>
          <a:p>
            <a:pPr lvl="1"/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Dataset Benchmark &amp; Feature Engineering:</a:t>
            </a:r>
            <a:endParaRPr lang="en-I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en-IN" sz="1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Sharafaldin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I., Lashkari, A. H., &amp; Ghorbani, A. A. (2018).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"Toward Generating a New Intrusion Detection Dataset and Intrusion Traffic Characterization."</a:t>
            </a:r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IN" sz="1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ICISSP.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E9A826-665D-A46A-2501-9BE0D45F5820}"/>
              </a:ext>
            </a:extLst>
          </p:cNvPr>
          <p:cNvSpPr/>
          <p:nvPr/>
        </p:nvSpPr>
        <p:spPr>
          <a:xfrm>
            <a:off x="8375785" y="1028700"/>
            <a:ext cx="3739030" cy="5257004"/>
          </a:xfrm>
          <a:prstGeom prst="rect">
            <a:avLst/>
          </a:prstGeom>
          <a:gradFill flip="none" rotWithShape="1">
            <a:gsLst>
              <a:gs pos="0">
                <a:srgbClr val="00CC00">
                  <a:shade val="30000"/>
                  <a:satMod val="115000"/>
                </a:srgbClr>
              </a:gs>
              <a:gs pos="50000">
                <a:srgbClr val="00CC00">
                  <a:shade val="67500"/>
                  <a:satMod val="115000"/>
                </a:srgbClr>
              </a:gs>
              <a:gs pos="100000">
                <a:srgbClr val="00CC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CEA83C-22F9-3ADA-689E-4195589AE3F2}"/>
              </a:ext>
            </a:extLst>
          </p:cNvPr>
          <p:cNvSpPr txBox="1"/>
          <p:nvPr/>
        </p:nvSpPr>
        <p:spPr>
          <a:xfrm>
            <a:off x="8474142" y="1204469"/>
            <a:ext cx="35423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Benchmark Datasets &amp; Data Sources</a:t>
            </a:r>
          </a:p>
          <a:p>
            <a:endParaRPr lang="en-IN" sz="1400" dirty="0"/>
          </a:p>
          <a:p>
            <a:pPr lvl="0"/>
            <a:r>
              <a:rPr lang="en-IN" sz="1400" b="1" dirty="0"/>
              <a:t>CIC-IDS2017  Dataset: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🔗 </a:t>
            </a:r>
            <a:r>
              <a:rPr lang="en-IN" sz="1400" dirty="0">
                <a:hlinkClick r:id="rId4"/>
              </a:rPr>
              <a:t>UNB Canadian Institute for Cybersecurity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Real-world network flow telemetry covering DDoS, Botnet C2, Infiltration, Port Scanning, and Benign Baselines.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48B1A74-A2BA-6A1D-7C90-C75B74170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232" y="7452058"/>
            <a:ext cx="605534" cy="605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F80E7D-AA18-1737-8F28-485C1697C8FC}"/>
              </a:ext>
            </a:extLst>
          </p:cNvPr>
          <p:cNvSpPr txBox="1"/>
          <p:nvPr/>
        </p:nvSpPr>
        <p:spPr>
          <a:xfrm>
            <a:off x="198876" y="1662862"/>
            <a:ext cx="429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linkClick r:id="rId6"/>
              </a:rPr>
              <a:t>🔗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E24CB-E3CD-83D9-158F-C436716FC3A3}"/>
              </a:ext>
            </a:extLst>
          </p:cNvPr>
          <p:cNvSpPr txBox="1"/>
          <p:nvPr/>
        </p:nvSpPr>
        <p:spPr>
          <a:xfrm>
            <a:off x="198876" y="292818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🔗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3EF59-AC98-CF8F-20FA-DB43E6A5E2DE}"/>
              </a:ext>
            </a:extLst>
          </p:cNvPr>
          <p:cNvSpPr txBox="1"/>
          <p:nvPr/>
        </p:nvSpPr>
        <p:spPr>
          <a:xfrm>
            <a:off x="198875" y="416272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8"/>
              </a:rPr>
              <a:t>🔗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73848-FB2C-308E-062C-D6C23FAB4DD2}"/>
              </a:ext>
            </a:extLst>
          </p:cNvPr>
          <p:cNvSpPr txBox="1"/>
          <p:nvPr/>
        </p:nvSpPr>
        <p:spPr>
          <a:xfrm>
            <a:off x="198874" y="539726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9"/>
              </a:rPr>
              <a:t>🔗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F3D7-F2BF-BEC8-3F84-47F47849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A5149E9-294D-C9DA-19D7-84FF6367E28D}"/>
              </a:ext>
            </a:extLst>
          </p:cNvPr>
          <p:cNvSpPr/>
          <p:nvPr/>
        </p:nvSpPr>
        <p:spPr>
          <a:xfrm>
            <a:off x="-8330217" y="886267"/>
            <a:ext cx="8176909" cy="5257004"/>
          </a:xfrm>
          <a:prstGeom prst="rect">
            <a:avLst/>
          </a:prstGeom>
          <a:gradFill flip="none" rotWithShape="1">
            <a:gsLst>
              <a:gs pos="0">
                <a:srgbClr val="008000">
                  <a:shade val="30000"/>
                  <a:satMod val="115000"/>
                </a:srgbClr>
              </a:gs>
              <a:gs pos="50000">
                <a:srgbClr val="008000">
                  <a:shade val="67500"/>
                  <a:satMod val="115000"/>
                </a:srgbClr>
              </a:gs>
              <a:gs pos="100000">
                <a:srgbClr val="008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2BC2B-B18E-6355-AF4F-9588E9B4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4EDBA-B296-63AD-B564-D756B2147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130" y="88617"/>
            <a:ext cx="2523739" cy="119166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0CC9C-FA0B-9BE7-32DA-4ECFCFF4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C4892C7-B99F-5EB6-B3E0-F07F3F9E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7271" y="178593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DIODE GUARD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848692B5-7731-E649-B63A-76E2EE561A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184" y="-911667"/>
            <a:ext cx="1637923" cy="807334"/>
          </a:xfrm>
          <a:prstGeom prst="ellipse">
            <a:avLst/>
          </a:prstGeom>
          <a:gradFill flip="none" rotWithShape="1">
            <a:gsLst>
              <a:gs pos="0">
                <a:srgbClr val="00CC00">
                  <a:shade val="30000"/>
                  <a:satMod val="115000"/>
                </a:srgbClr>
              </a:gs>
              <a:gs pos="50000">
                <a:srgbClr val="00CC00">
                  <a:shade val="67500"/>
                  <a:satMod val="115000"/>
                </a:srgbClr>
              </a:gs>
              <a:gs pos="100000">
                <a:srgbClr val="00CC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THE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S.H.I.E.L.D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10E24B-9AE1-39F9-8DC6-7EF602F11701}"/>
              </a:ext>
            </a:extLst>
          </p:cNvPr>
          <p:cNvSpPr/>
          <p:nvPr/>
        </p:nvSpPr>
        <p:spPr>
          <a:xfrm>
            <a:off x="4151975" y="1625882"/>
            <a:ext cx="3974592" cy="68523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E028AB-81B4-AD3D-D49D-57BDD3AFBC84}"/>
              </a:ext>
            </a:extLst>
          </p:cNvPr>
          <p:cNvSpPr/>
          <p:nvPr/>
        </p:nvSpPr>
        <p:spPr>
          <a:xfrm>
            <a:off x="12431851" y="825217"/>
            <a:ext cx="3739030" cy="5257004"/>
          </a:xfrm>
          <a:prstGeom prst="rect">
            <a:avLst/>
          </a:prstGeom>
          <a:gradFill flip="none" rotWithShape="1">
            <a:gsLst>
              <a:gs pos="0">
                <a:srgbClr val="00CC00">
                  <a:shade val="30000"/>
                  <a:satMod val="115000"/>
                </a:srgbClr>
              </a:gs>
              <a:gs pos="50000">
                <a:srgbClr val="00CC00">
                  <a:shade val="67500"/>
                  <a:satMod val="115000"/>
                </a:srgbClr>
              </a:gs>
              <a:gs pos="100000">
                <a:srgbClr val="00CC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D50193-507E-C897-DDF3-DE129A23D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530" y="4244116"/>
            <a:ext cx="1445483" cy="1445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A14949-F6A8-4116-386D-0EF27BC2DFF2}"/>
              </a:ext>
            </a:extLst>
          </p:cNvPr>
          <p:cNvSpPr txBox="1"/>
          <p:nvPr/>
        </p:nvSpPr>
        <p:spPr>
          <a:xfrm>
            <a:off x="3252913" y="2670945"/>
            <a:ext cx="56861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G Fonts" panose="00000500000000000000" pitchFamily="50" charset="0"/>
                <a:cs typeface="Biome" panose="020B0503030204020804" pitchFamily="34" charset="0"/>
              </a:rPr>
              <a:t>T</a:t>
            </a:r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HANK </a:t>
            </a:r>
            <a:r>
              <a:rPr lang="en-IN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G Fonts" panose="00000500000000000000" pitchFamily="50" charset="0"/>
                <a:cs typeface="Biome" panose="020B0503030204020804" pitchFamily="34" charset="0"/>
              </a:rPr>
              <a:t>Y</a:t>
            </a:r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E6E3E-722F-F880-C03C-9891CA940056}"/>
              </a:ext>
            </a:extLst>
          </p:cNvPr>
          <p:cNvSpPr txBox="1"/>
          <p:nvPr/>
        </p:nvSpPr>
        <p:spPr>
          <a:xfrm>
            <a:off x="5368813" y="6411869"/>
            <a:ext cx="198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 Link 🔗</a:t>
            </a:r>
            <a:endParaRPr lang="en-IN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3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7760</TotalTime>
  <Words>973</Words>
  <Application>Microsoft Office PowerPoint</Application>
  <PresentationFormat>Widescreen</PresentationFormat>
  <Paragraphs>142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Arial Narrow</vt:lpstr>
      <vt:lpstr>Biome</vt:lpstr>
      <vt:lpstr>Calibri</vt:lpstr>
      <vt:lpstr>ROG Fonts</vt:lpstr>
      <vt:lpstr>Segoe WPC</vt:lpstr>
      <vt:lpstr>TradeGothic</vt:lpstr>
      <vt:lpstr>Wingdings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Darsh Jain</cp:lastModifiedBy>
  <cp:revision>154</cp:revision>
  <dcterms:created xsi:type="dcterms:W3CDTF">2013-12-12T18:46:50Z</dcterms:created>
  <dcterms:modified xsi:type="dcterms:W3CDTF">2026-09-02T03:51:06Z</dcterms:modified>
  <cp:category/>
</cp:coreProperties>
</file>